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6" r:id="rId3"/>
    <p:sldId id="261" r:id="rId4"/>
    <p:sldId id="257" r:id="rId5"/>
    <p:sldId id="260" r:id="rId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42C80B9-9DF4-EA52-4685-5DB75F96070E}" v="28" dt="2026-03-04T11:11:28.140"/>
    <p1510:client id="{A6DD2BF7-DB3B-1108-8D61-457D0E31BEA6}" v="92" dt="2026-03-04T09:08:32.895"/>
    <p1510:client id="{C1EDE9B0-E5D4-1041-200C-F48C2E515A44}" v="119" dt="2026-03-04T10:52:12.726"/>
    <p1510:client id="{E78CD73A-00FE-F2DD-1FA6-4D5B2128B1BC}" v="123" dt="2026-03-03T12:03:59.15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59" autoAdjust="0"/>
    <p:restoredTop sz="94660"/>
  </p:normalViewPr>
  <p:slideViewPr>
    <p:cSldViewPr snapToGrid="0">
      <p:cViewPr varScale="1">
        <p:scale>
          <a:sx n="61" d="100"/>
          <a:sy n="61" d="100"/>
        </p:scale>
        <p:origin x="84" y="3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microsoft.com/office/2015/10/relationships/revisionInfo" Target="revisionInfo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D17B11-CCD8-4EEC-AD7E-F410C1454966}" type="datetimeFigureOut">
              <a:rPr lang="zh-CN" altLang="en-US" smtClean="0"/>
              <a:t>2026/3/4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9CB688-378F-4534-BFFE-AF122467FDB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050866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D17B11-CCD8-4EEC-AD7E-F410C1454966}" type="datetimeFigureOut">
              <a:rPr lang="zh-CN" altLang="en-US" smtClean="0"/>
              <a:t>2026/3/4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9CB688-378F-4534-BFFE-AF122467FDB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740158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D17B11-CCD8-4EEC-AD7E-F410C1454966}" type="datetimeFigureOut">
              <a:rPr lang="zh-CN" altLang="en-US" smtClean="0"/>
              <a:t>2026/3/4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9CB688-378F-4534-BFFE-AF122467FDB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070526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D17B11-CCD8-4EEC-AD7E-F410C1454966}" type="datetimeFigureOut">
              <a:rPr lang="zh-CN" altLang="en-US" smtClean="0"/>
              <a:t>2026/3/4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9CB688-378F-4534-BFFE-AF122467FDB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87022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D17B11-CCD8-4EEC-AD7E-F410C1454966}" type="datetimeFigureOut">
              <a:rPr lang="zh-CN" altLang="en-US" smtClean="0"/>
              <a:t>2026/3/4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9CB688-378F-4534-BFFE-AF122467FDB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680827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D17B11-CCD8-4EEC-AD7E-F410C1454966}" type="datetimeFigureOut">
              <a:rPr lang="zh-CN" altLang="en-US" smtClean="0"/>
              <a:t>2026/3/4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9CB688-378F-4534-BFFE-AF122467FDB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871961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D17B11-CCD8-4EEC-AD7E-F410C1454966}" type="datetimeFigureOut">
              <a:rPr lang="zh-CN" altLang="en-US" smtClean="0"/>
              <a:t>2026/3/4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9CB688-378F-4534-BFFE-AF122467FDB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005695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D17B11-CCD8-4EEC-AD7E-F410C1454966}" type="datetimeFigureOut">
              <a:rPr lang="zh-CN" altLang="en-US" smtClean="0"/>
              <a:t>2026/3/4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9CB688-378F-4534-BFFE-AF122467FDB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532611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D17B11-CCD8-4EEC-AD7E-F410C1454966}" type="datetimeFigureOut">
              <a:rPr lang="zh-CN" altLang="en-US" smtClean="0"/>
              <a:t>2026/3/4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9CB688-378F-4534-BFFE-AF122467FDB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900417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D17B11-CCD8-4EEC-AD7E-F410C1454966}" type="datetimeFigureOut">
              <a:rPr lang="zh-CN" altLang="en-US" smtClean="0"/>
              <a:t>2026/3/4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9CB688-378F-4534-BFFE-AF122467FDB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773024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D17B11-CCD8-4EEC-AD7E-F410C1454966}" type="datetimeFigureOut">
              <a:rPr lang="zh-CN" altLang="en-US" smtClean="0"/>
              <a:t>2026/3/4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9CB688-378F-4534-BFFE-AF122467FDB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28816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3D17B11-CCD8-4EEC-AD7E-F410C1454966}" type="datetimeFigureOut">
              <a:rPr lang="zh-CN" altLang="en-US" smtClean="0"/>
              <a:t>2026/3/4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79CB688-378F-4534-BFFE-AF122467FDB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631461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ight Triangle 13">
            <a:extLst>
              <a:ext uri="{FF2B5EF4-FFF2-40B4-BE49-F238E27FC236}">
                <a16:creationId xmlns:a16="http://schemas.microsoft.com/office/drawing/2014/main" id="{F15F0934-8777-FAC5-8F35-8FE8D9F36C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15">
            <a:extLst>
              <a:ext uri="{FF2B5EF4-FFF2-40B4-BE49-F238E27FC236}">
                <a16:creationId xmlns:a16="http://schemas.microsoft.com/office/drawing/2014/main" id="{418E4A10-890C-639E-58ED-1497B2E20E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8E5A4D92-7E1F-FFD4-CF8B-BCCB1FDB05CA}"/>
              </a:ext>
            </a:extLst>
          </p:cNvPr>
          <p:cNvSpPr txBox="1"/>
          <p:nvPr/>
        </p:nvSpPr>
        <p:spPr>
          <a:xfrm>
            <a:off x="4720566" y="2877069"/>
            <a:ext cx="2743200" cy="110799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zh-CN" altLang="en-US" sz="6600" b="1">
                <a:solidFill>
                  <a:schemeClr val="tx2"/>
                </a:solidFill>
                <a:ea typeface="宋体"/>
              </a:rPr>
              <a:t>AES</a:t>
            </a:r>
            <a:endParaRPr lang="zh-CN" altLang="en-US" sz="6600" b="1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917758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6">
            <a:extLst>
              <a:ext uri="{FF2B5EF4-FFF2-40B4-BE49-F238E27FC236}">
                <a16:creationId xmlns:a16="http://schemas.microsoft.com/office/drawing/2014/main" id="{A90D6664-80D6-11BB-C0D1-84EA2F93A6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285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2C6713B9-03A7-43B6-0015-DEF1EA1526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9030" cy="1576446"/>
            <a:chOff x="0" y="0"/>
            <a:chExt cx="12192002" cy="1576446"/>
          </a:xfrm>
        </p:grpSpPr>
        <p:sp>
          <p:nvSpPr>
            <p:cNvPr id="15" name="Rectangle 13">
              <a:extLst>
                <a:ext uri="{FF2B5EF4-FFF2-40B4-BE49-F238E27FC236}">
                  <a16:creationId xmlns:a16="http://schemas.microsoft.com/office/drawing/2014/main" id="{61C906C8-6C3B-29B3-51C5-2C50D01397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 flipH="1">
              <a:off x="2" y="0"/>
              <a:ext cx="12191998" cy="1575955"/>
            </a:xfrm>
            <a:prstGeom prst="rect">
              <a:avLst/>
            </a:prstGeom>
            <a:gradFill>
              <a:gsLst>
                <a:gs pos="0">
                  <a:srgbClr val="000000">
                    <a:alpha val="96000"/>
                  </a:srgbClr>
                </a:gs>
                <a:gs pos="100000">
                  <a:schemeClr val="accent1">
                    <a:lumMod val="75000"/>
                  </a:schemeClr>
                </a:gs>
              </a:gsLst>
              <a:lin ang="8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4">
              <a:extLst>
                <a:ext uri="{FF2B5EF4-FFF2-40B4-BE49-F238E27FC236}">
                  <a16:creationId xmlns:a16="http://schemas.microsoft.com/office/drawing/2014/main" id="{07057FEB-690F-C100-3A32-5B337BB825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5307778" y="-5307778"/>
              <a:ext cx="1576446" cy="12192002"/>
            </a:xfrm>
            <a:prstGeom prst="rect">
              <a:avLst/>
            </a:prstGeom>
            <a:gradFill>
              <a:gsLst>
                <a:gs pos="45000">
                  <a:schemeClr val="accent1">
                    <a:alpha val="0"/>
                  </a:schemeClr>
                </a:gs>
                <a:gs pos="99000">
                  <a:srgbClr val="000000">
                    <a:alpha val="74000"/>
                  </a:srgbClr>
                </a:gs>
              </a:gsLst>
              <a:lin ang="11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Rectangle 15">
              <a:extLst>
                <a:ext uri="{FF2B5EF4-FFF2-40B4-BE49-F238E27FC236}">
                  <a16:creationId xmlns:a16="http://schemas.microsoft.com/office/drawing/2014/main" id="{11A6BCA8-F630-CE9B-4AAF-89C94DD1FF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825434" y="0"/>
              <a:ext cx="4303422" cy="1575461"/>
            </a:xfrm>
            <a:prstGeom prst="rect">
              <a:avLst/>
            </a:prstGeom>
            <a:gradFill>
              <a:gsLst>
                <a:gs pos="0">
                  <a:schemeClr val="accent1">
                    <a:alpha val="17000"/>
                  </a:schemeClr>
                </a:gs>
                <a:gs pos="74000">
                  <a:schemeClr val="accent1">
                    <a:lumMod val="50000"/>
                    <a:alpha val="0"/>
                  </a:schemeClr>
                </a:gs>
              </a:gsLst>
              <a:lin ang="14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7" name="图片 6" descr="文本&#10;&#10;AI 生成的内容可能不正确。">
            <a:extLst>
              <a:ext uri="{FF2B5EF4-FFF2-40B4-BE49-F238E27FC236}">
                <a16:creationId xmlns:a16="http://schemas.microsoft.com/office/drawing/2014/main" id="{CC6ACBC7-893D-26EE-724B-763B878ADD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8376" y="3220521"/>
            <a:ext cx="6354973" cy="2178530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66AFABDC-B7BD-4E1C-154E-835622D62760}"/>
              </a:ext>
            </a:extLst>
          </p:cNvPr>
          <p:cNvSpPr txBox="1"/>
          <p:nvPr/>
        </p:nvSpPr>
        <p:spPr>
          <a:xfrm>
            <a:off x="728453" y="282754"/>
            <a:ext cx="3749615" cy="101566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zh-CN" altLang="en-US" sz="6000" b="1" dirty="0">
                <a:solidFill>
                  <a:schemeClr val="bg2"/>
                </a:solidFill>
                <a:ea typeface="宋体"/>
              </a:rPr>
              <a:t>SBOX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FBF50157-3B9F-E418-47E9-03F9698C802C}"/>
              </a:ext>
            </a:extLst>
          </p:cNvPr>
          <p:cNvSpPr txBox="1"/>
          <p:nvPr/>
        </p:nvSpPr>
        <p:spPr>
          <a:xfrm>
            <a:off x="735576" y="2134454"/>
            <a:ext cx="3994029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zh-CN" altLang="en-US" sz="2800" b="1">
                <a:ea typeface="宋体"/>
              </a:rPr>
              <a:t>Multiplicative Inverse</a:t>
            </a:r>
            <a:endParaRPr lang="zh-CN" altLang="en-US" sz="2800" b="1"/>
          </a:p>
        </p:txBody>
      </p:sp>
    </p:spTree>
    <p:extLst>
      <p:ext uri="{BB962C8B-B14F-4D97-AF65-F5344CB8AC3E}">
        <p14:creationId xmlns:p14="http://schemas.microsoft.com/office/powerpoint/2010/main" val="7030884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ACE5E8-B2B3-9B8E-A255-863A0CA8A5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内容占位符 3" descr="文本&#10;&#10;AI 生成的内容可能不正确。">
            <a:extLst>
              <a:ext uri="{FF2B5EF4-FFF2-40B4-BE49-F238E27FC236}">
                <a16:creationId xmlns:a16="http://schemas.microsoft.com/office/drawing/2014/main" id="{FA52441B-6367-B2D2-788E-D9DCCDB02C4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85478" y="2652248"/>
            <a:ext cx="5117082" cy="2281148"/>
          </a:xfrm>
          <a:prstGeom prst="rect">
            <a:avLst/>
          </a:prstGeom>
        </p:spPr>
      </p:pic>
      <p:sp>
        <p:nvSpPr>
          <p:cNvPr id="6" name="Right Triangle 13">
            <a:extLst>
              <a:ext uri="{FF2B5EF4-FFF2-40B4-BE49-F238E27FC236}">
                <a16:creationId xmlns:a16="http://schemas.microsoft.com/office/drawing/2014/main" id="{07A0F82D-59B7-2CBB-8FF7-55BB090EDD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Rectangle 15">
            <a:extLst>
              <a:ext uri="{FF2B5EF4-FFF2-40B4-BE49-F238E27FC236}">
                <a16:creationId xmlns:a16="http://schemas.microsoft.com/office/drawing/2014/main" id="{FCBED6DA-6A09-A2FD-8C2A-04E6A90F22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49308342-376C-291A-D123-7C731877AF86}"/>
              </a:ext>
            </a:extLst>
          </p:cNvPr>
          <p:cNvSpPr txBox="1"/>
          <p:nvPr/>
        </p:nvSpPr>
        <p:spPr>
          <a:xfrm>
            <a:off x="984265" y="1711683"/>
            <a:ext cx="4439728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zh-CN" altLang="en-US" sz="2800" b="1">
                <a:ea typeface="宋体"/>
              </a:rPr>
              <a:t>Affine Transformation</a:t>
            </a:r>
            <a:endParaRPr lang="zh-CN" altLang="en-US" sz="2800"/>
          </a:p>
        </p:txBody>
      </p:sp>
    </p:spTree>
    <p:extLst>
      <p:ext uri="{BB962C8B-B14F-4D97-AF65-F5344CB8AC3E}">
        <p14:creationId xmlns:p14="http://schemas.microsoft.com/office/powerpoint/2010/main" val="32262337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B712E947-0734-45F9-9C4F-41114EC3A3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285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12B3290A-D3BF-4B87-B55B-FD9A98B497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9030" cy="1576446"/>
            <a:chOff x="0" y="0"/>
            <a:chExt cx="12192002" cy="1576446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033A715A-0686-440A-8F40-441B42A660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 flipH="1">
              <a:off x="2" y="0"/>
              <a:ext cx="12191998" cy="1575955"/>
            </a:xfrm>
            <a:prstGeom prst="rect">
              <a:avLst/>
            </a:prstGeom>
            <a:gradFill>
              <a:gsLst>
                <a:gs pos="0">
                  <a:srgbClr val="000000">
                    <a:alpha val="96000"/>
                  </a:srgbClr>
                </a:gs>
                <a:gs pos="100000">
                  <a:schemeClr val="accent1">
                    <a:lumMod val="75000"/>
                  </a:schemeClr>
                </a:gs>
              </a:gsLst>
              <a:lin ang="8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4761657F-19F2-425B-B7E9-0118CD13C3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5307778" y="-5307778"/>
              <a:ext cx="1576446" cy="12192002"/>
            </a:xfrm>
            <a:prstGeom prst="rect">
              <a:avLst/>
            </a:prstGeom>
            <a:gradFill>
              <a:gsLst>
                <a:gs pos="45000">
                  <a:schemeClr val="accent1">
                    <a:alpha val="0"/>
                  </a:schemeClr>
                </a:gs>
                <a:gs pos="99000">
                  <a:srgbClr val="000000">
                    <a:alpha val="74000"/>
                  </a:srgbClr>
                </a:gs>
              </a:gsLst>
              <a:lin ang="11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E27B6634-79D3-4EDD-A77A-1065D6F3A4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825434" y="0"/>
              <a:ext cx="4303422" cy="1575461"/>
            </a:xfrm>
            <a:prstGeom prst="rect">
              <a:avLst/>
            </a:prstGeom>
            <a:gradFill>
              <a:gsLst>
                <a:gs pos="0">
                  <a:schemeClr val="accent1">
                    <a:alpha val="17000"/>
                  </a:schemeClr>
                </a:gs>
                <a:gs pos="74000">
                  <a:schemeClr val="accent1">
                    <a:lumMod val="50000"/>
                    <a:alpha val="0"/>
                  </a:schemeClr>
                </a:gs>
              </a:gsLst>
              <a:lin ang="14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8AA6B736-5711-3DAA-FECA-007D8220B0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6571" y="2361780"/>
            <a:ext cx="5462118" cy="2129860"/>
          </a:xfrm>
          <a:prstGeom prst="rect">
            <a:avLst/>
          </a:prstGeom>
        </p:spPr>
      </p:pic>
      <p:pic>
        <p:nvPicPr>
          <p:cNvPr id="4" name="内容占位符 3" descr="文本&#10;&#10;AI 生成的内容可能不正确。">
            <a:extLst>
              <a:ext uri="{FF2B5EF4-FFF2-40B4-BE49-F238E27FC236}">
                <a16:creationId xmlns:a16="http://schemas.microsoft.com/office/drawing/2014/main" id="{E05EA5C9-0188-6F43-F3AE-DC50B4FB89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6025" y="2527361"/>
            <a:ext cx="5503964" cy="1791822"/>
          </a:xfrm>
          <a:prstGeom prst="rect">
            <a:avLst/>
          </a:prstGeom>
        </p:spPr>
      </p:pic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9874220-E68D-0466-9F37-7614F617BF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8147" y="4942222"/>
            <a:ext cx="5039065" cy="589550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b="1" dirty="0"/>
              <a:t>Multiplication under GF (2^8)</a:t>
            </a:r>
            <a:endParaRPr lang="en-US"/>
          </a:p>
        </p:txBody>
      </p:sp>
      <p:sp>
        <p:nvSpPr>
          <p:cNvPr id="12" name="Content Placeholder 7">
            <a:extLst>
              <a:ext uri="{FF2B5EF4-FFF2-40B4-BE49-F238E27FC236}">
                <a16:creationId xmlns:a16="http://schemas.microsoft.com/office/drawing/2014/main" id="{A2A99F9E-B13A-CB2B-8A03-7ED2CAE6D53A}"/>
              </a:ext>
            </a:extLst>
          </p:cNvPr>
          <p:cNvSpPr txBox="1">
            <a:spLocks/>
          </p:cNvSpPr>
          <p:nvPr/>
        </p:nvSpPr>
        <p:spPr>
          <a:xfrm>
            <a:off x="6889422" y="4939660"/>
            <a:ext cx="5039065" cy="58955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Arial" panose="020B0604020202020204" pitchFamily="34" charset="0"/>
              <a:buChar char="•"/>
            </a:pPr>
            <a:r>
              <a:rPr lang="en-US" sz="3100" dirty="0"/>
              <a:t>Diffusion</a:t>
            </a:r>
          </a:p>
          <a:p>
            <a:r>
              <a:rPr lang="en-US" sz="3100" dirty="0"/>
              <a:t>MDS matrix</a:t>
            </a:r>
          </a:p>
        </p:txBody>
      </p:sp>
    </p:spTree>
    <p:extLst>
      <p:ext uri="{BB962C8B-B14F-4D97-AF65-F5344CB8AC3E}">
        <p14:creationId xmlns:p14="http://schemas.microsoft.com/office/powerpoint/2010/main" val="20325192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7CB0BBB-AFA1-2F47-920D-ED775FE420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22F15A2D-2324-487D-A02A-BF46C5C580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ight Triangle 13">
            <a:extLst>
              <a:ext uri="{FF2B5EF4-FFF2-40B4-BE49-F238E27FC236}">
                <a16:creationId xmlns:a16="http://schemas.microsoft.com/office/drawing/2014/main" id="{2AEAFA59-923A-4F54-8B49-44C970BCC3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37E9D4B-7BFA-4D10-B666-547BAC4994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 descr="文本&#10;&#10;AI 生成的内容可能不正确。">
            <a:extLst>
              <a:ext uri="{FF2B5EF4-FFF2-40B4-BE49-F238E27FC236}">
                <a16:creationId xmlns:a16="http://schemas.microsoft.com/office/drawing/2014/main" id="{6ADAF6F3-D606-BF48-5BEC-FE45291758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3104" y="1149184"/>
            <a:ext cx="8626492" cy="2163477"/>
          </a:xfrm>
          <a:prstGeom prst="rect">
            <a:avLst/>
          </a:prstGeom>
        </p:spPr>
      </p:pic>
      <p:pic>
        <p:nvPicPr>
          <p:cNvPr id="7" name="Picture 6" descr="A diagram of a mathematical equation&#10;&#10;AI-generated content may be incorrect.">
            <a:extLst>
              <a:ext uri="{FF2B5EF4-FFF2-40B4-BE49-F238E27FC236}">
                <a16:creationId xmlns:a16="http://schemas.microsoft.com/office/drawing/2014/main" id="{DE78C161-511B-3787-25AA-727D9E83D3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9046" y="3561663"/>
            <a:ext cx="5693833" cy="21276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66966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宽屏</PresentationFormat>
  <Paragraphs>0</Paragraphs>
  <Slides>5</Slides>
  <Notes>0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6" baseType="lpstr"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130</cp:revision>
  <dcterms:created xsi:type="dcterms:W3CDTF">2026-03-03T11:53:07Z</dcterms:created>
  <dcterms:modified xsi:type="dcterms:W3CDTF">2026-03-04T11:14:04Z</dcterms:modified>
</cp:coreProperties>
</file>